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85" r:id="rId5"/>
    <p:sldId id="283" r:id="rId6"/>
    <p:sldId id="282" r:id="rId7"/>
    <p:sldId id="262" r:id="rId8"/>
    <p:sldId id="286" r:id="rId9"/>
    <p:sldId id="264" r:id="rId10"/>
    <p:sldId id="273" r:id="rId11"/>
    <p:sldId id="280" r:id="rId12"/>
    <p:sldId id="275" r:id="rId13"/>
    <p:sldId id="277" r:id="rId14"/>
    <p:sldId id="278" r:id="rId15"/>
    <p:sldId id="279" r:id="rId16"/>
    <p:sldId id="269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23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B2DF-1D4D-A51C-EFFA-4CF04E82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0D8D8-0823-4913-58F7-B2149DFA8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7B243-520E-11FA-7A8E-0599916B7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98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>
    <p:push dir="u"/>
  </p:transition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5" name="Picture 4" descr="Picture 4"/>
          <p:cNvPicPr>
            <a:picLocks noChangeAspect="1"/>
          </p:cNvPicPr>
          <p:nvPr/>
        </p:nvPicPr>
        <p:blipFill>
          <a:blip r:embed="rId2"/>
          <a:srcRect l="4491" t="5823" r="16049"/>
          <a:stretch>
            <a:fillRect/>
          </a:stretch>
        </p:blipFill>
        <p:spPr>
          <a:xfrm>
            <a:off x="20" y="10"/>
            <a:ext cx="8668492" cy="685791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tangle 22"/>
          <p:cNvSpPr/>
          <p:nvPr/>
        </p:nvSpPr>
        <p:spPr>
          <a:xfrm flipH="1">
            <a:off x="2435399" y="0"/>
            <a:ext cx="9756602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9000">
                <a:srgbClr val="000000">
                  <a:alpha val="40000"/>
                </a:srgbClr>
              </a:gs>
              <a:gs pos="35000">
                <a:srgbClr val="000000">
                  <a:alpha val="76000"/>
                </a:srgbClr>
              </a:gs>
              <a:gs pos="52999">
                <a:srgbClr val="000000"/>
              </a:gs>
              <a:gs pos="100000">
                <a:srgbClr val="000000"/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Title 1"/>
          <p:cNvSpPr txBox="1">
            <a:spLocks noGrp="1"/>
          </p:cNvSpPr>
          <p:nvPr>
            <p:ph type="ctrTitle"/>
          </p:nvPr>
        </p:nvSpPr>
        <p:spPr>
          <a:xfrm>
            <a:off x="8449588" y="1053267"/>
            <a:ext cx="3384424" cy="1232733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CSCI 5502: DATA MINING</a:t>
            </a:r>
            <a:br/>
            <a:r>
              <a:t>Project Proposal</a:t>
            </a:r>
          </a:p>
        </p:txBody>
      </p:sp>
      <p:sp>
        <p:nvSpPr>
          <p:cNvPr id="98" name="Rectangle 19"/>
          <p:cNvSpPr/>
          <p:nvPr/>
        </p:nvSpPr>
        <p:spPr>
          <a:xfrm rot="5400000">
            <a:off x="8687333" y="605790"/>
            <a:ext cx="73153" cy="5486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99" name="Rectangle 21"/>
          <p:cNvSpPr/>
          <p:nvPr/>
        </p:nvSpPr>
        <p:spPr>
          <a:xfrm>
            <a:off x="8453018" y="2441701"/>
            <a:ext cx="3218689" cy="12701"/>
          </a:xfrm>
          <a:prstGeom prst="rect">
            <a:avLst/>
          </a:prstGeom>
          <a:solidFill>
            <a:srgbClr val="000000"/>
          </a:solidFill>
          <a:ln w="31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0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8395868" y="2718054"/>
            <a:ext cx="3438907" cy="3207259"/>
          </a:xfrm>
          <a:prstGeom prst="rect">
            <a:avLst/>
          </a:prstGeom>
        </p:spPr>
        <p:txBody>
          <a:bodyPr/>
          <a:lstStyle/>
          <a:p>
            <a:pPr algn="l" defTabSz="896111">
              <a:spcBef>
                <a:spcPts val="900"/>
              </a:spcBef>
              <a:defRPr sz="1960" b="1">
                <a:solidFill>
                  <a:srgbClr val="0B77A0"/>
                </a:solidFill>
                <a:effectLst>
                  <a:outerShdw blurRad="37338" dist="37338" dir="2700000" rotWithShape="0">
                    <a:srgbClr val="000000">
                      <a:alpha val="43137"/>
                    </a:srgbClr>
                  </a:outerShdw>
                </a:effectLst>
              </a:defRPr>
            </a:pPr>
            <a:r>
              <a:t>Stock Market Pattern Mining</a:t>
            </a:r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666">
                <a:solidFill>
                  <a:srgbClr val="FFFFFF"/>
                </a:solidFill>
              </a:defRPr>
            </a:pPr>
            <a:endParaRPr/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666">
                <a:solidFill>
                  <a:srgbClr val="FFFFFF"/>
                </a:solidFill>
              </a:defRPr>
            </a:pPr>
            <a:endParaRPr/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666">
                <a:solidFill>
                  <a:srgbClr val="FFFFFF"/>
                </a:solidFill>
              </a:defRPr>
            </a:pPr>
            <a:endParaRPr/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666">
                <a:solidFill>
                  <a:srgbClr val="FFFFFF"/>
                </a:solidFill>
              </a:defRPr>
            </a:pPr>
            <a:endParaRPr/>
          </a:p>
          <a:p>
            <a:pPr algn="l" defTabSz="896111">
              <a:spcBef>
                <a:spcPts val="900"/>
              </a:spcBef>
              <a:defRPr sz="1568">
                <a:solidFill>
                  <a:srgbClr val="FFFFFF"/>
                </a:solidFill>
              </a:defRPr>
            </a:pPr>
            <a:r>
              <a:t>Team Members:</a:t>
            </a:r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568" i="1">
                <a:solidFill>
                  <a:srgbClr val="FFFFFF"/>
                </a:solidFill>
              </a:defRPr>
            </a:pPr>
            <a:r>
              <a:t>Arnav Purushotham</a:t>
            </a:r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568" i="1">
                <a:solidFill>
                  <a:srgbClr val="FFFFFF"/>
                </a:solidFill>
              </a:defRPr>
            </a:pPr>
            <a:r>
              <a:t>Meghasrivardhan Pulakhandam</a:t>
            </a:r>
          </a:p>
          <a:p>
            <a:pPr indent="-224027" algn="l" defTabSz="896111">
              <a:spcBef>
                <a:spcPts val="900"/>
              </a:spcBef>
              <a:buSzPct val="100000"/>
              <a:buFont typeface="Arial"/>
              <a:buChar char="•"/>
              <a:defRPr sz="1568" i="1">
                <a:solidFill>
                  <a:srgbClr val="FFFFFF"/>
                </a:solidFill>
              </a:defRPr>
            </a:pPr>
            <a:r>
              <a:t>Sneha Nagaraju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000" b="1"/>
            </a:lvl1pPr>
          </a:lstStyle>
          <a:p>
            <a:pPr algn="ctr">
              <a:spcBef>
                <a:spcPct val="0"/>
              </a:spcBef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31" name="Picture 130" descr="Digital financial graph">
            <a:extLst>
              <a:ext uri="{FF2B5EF4-FFF2-40B4-BE49-F238E27FC236}">
                <a16:creationId xmlns:a16="http://schemas.microsoft.com/office/drawing/2014/main" id="{8C8D6C83-C4B8-E4BC-59C4-2868FB100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1" r="1500" b="2"/>
          <a:stretch>
            <a:fillRect/>
          </a:stretch>
        </p:blipFill>
        <p:spPr>
          <a:xfrm>
            <a:off x="1049616" y="3555468"/>
            <a:ext cx="3849993" cy="2459252"/>
          </a:xfrm>
          <a:prstGeom prst="rect">
            <a:avLst/>
          </a:prstGeom>
        </p:spPr>
      </p:pic>
      <p:sp>
        <p:nvSpPr>
          <p:cNvPr id="144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9" y="590420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6586415" y="723153"/>
            <a:ext cx="4555782" cy="5392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  <a:defRPr sz="2000" b="1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Stock data is vast, noisy, and hard to interpret. 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difficult to identify useful patterns just by observing price data.</a:t>
            </a:r>
          </a:p>
          <a:p>
            <a:pPr>
              <a:buFont typeface="Arial" panose="020B0604020202020204" pitchFamily="34" charset="0"/>
              <a:buChar char="•"/>
              <a:defRPr sz="2000" b="1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Agenda: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 an ML model on past stock data.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live prices from FinnHub API for real-time inference.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 latest analysis and news through GPT-4 API.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Aggregate both signals for a final prediction.</a:t>
            </a:r>
          </a:p>
          <a:p>
            <a:pPr>
              <a:buFont typeface="Arial" panose="020B0604020202020204" pitchFamily="34" charset="0"/>
              <a:buChar char="•"/>
              <a:defRPr sz="2000" b="1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Goal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 a more complete, real-time analysis rather than just raw predictions. </a:t>
            </a:r>
          </a:p>
          <a:p>
            <a:pPr>
              <a:buFont typeface="Arial" panose="020B0604020202020204" pitchFamily="34" charset="0"/>
              <a:buChar char="•"/>
              <a:defRPr sz="2000" b="1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</a:p>
          <a:p>
            <a:pPr marL="685800" lvl="1" indent="-228600"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 if patterns can help predict short-term movements using Machine Learning.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C7773-718F-2D92-984C-A7A58BE78C0E}"/>
              </a:ext>
            </a:extLst>
          </p:cNvPr>
          <p:cNvSpPr txBox="1">
            <a:spLocks/>
          </p:cNvSpPr>
          <p:nvPr/>
        </p:nvSpPr>
        <p:spPr>
          <a:xfrm>
            <a:off x="445538" y="1395217"/>
            <a:ext cx="4170925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9pPr>
          </a:lstStyle>
          <a:p>
            <a:pPr algn="ctr" hangingPunct="1">
              <a:spcBef>
                <a:spcPct val="0"/>
              </a:spcBef>
              <a:spcAft>
                <a:spcPts val="600"/>
              </a:spcAft>
              <a:defRPr b="0"/>
            </a:pPr>
            <a:r>
              <a:rPr lang="en-US" sz="4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System</a:t>
            </a:r>
          </a:p>
          <a:p>
            <a:pPr algn="ctr" hangingPunct="1">
              <a:spcBef>
                <a:spcPct val="0"/>
              </a:spcBef>
              <a:spcAft>
                <a:spcPts val="600"/>
              </a:spcAft>
              <a:defRPr b="0"/>
            </a:pPr>
            <a:r>
              <a:rPr lang="en-US" sz="4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110" name="archi-img.png" descr="archi-img.png"/>
          <p:cNvPicPr>
            <a:picLocks noChangeAspect="1"/>
          </p:cNvPicPr>
          <p:nvPr/>
        </p:nvPicPr>
        <p:blipFill>
          <a:blip r:embed="rId3"/>
          <a:srcRect l="559" r="1" b="1"/>
          <a:stretch>
            <a:fillRect/>
          </a:stretch>
        </p:blipFill>
        <p:spPr>
          <a:xfrm>
            <a:off x="5895751" y="1498041"/>
            <a:ext cx="5708649" cy="3831942"/>
          </a:xfrm>
          <a:prstGeom prst="rect">
            <a:avLst/>
          </a:prstGeom>
        </p:spPr>
      </p:pic>
      <p:sp>
        <p:nvSpPr>
          <p:cNvPr id="111" name="Architecture Diagram"/>
          <p:cNvSpPr txBox="1"/>
          <p:nvPr/>
        </p:nvSpPr>
        <p:spPr>
          <a:xfrm>
            <a:off x="127000" y="127000"/>
            <a:ext cx="9239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1200"/>
              </a:spcBef>
              <a:defRPr sz="30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/>
            </a:pPr>
            <a:endParaRPr b="1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600F5-6BE9-F089-0270-056BF6D8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3D518-14D7-EBD5-2D94-F37F7955AC40}"/>
              </a:ext>
            </a:extLst>
          </p:cNvPr>
          <p:cNvSpPr txBox="1">
            <a:spLocks/>
          </p:cNvSpPr>
          <p:nvPr/>
        </p:nvSpPr>
        <p:spPr>
          <a:xfrm>
            <a:off x="773408" y="992094"/>
            <a:ext cx="3616913" cy="2795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Aptos Display"/>
                <a:ea typeface="Aptos Display"/>
                <a:cs typeface="Aptos Display"/>
                <a:sym typeface="Aptos Display"/>
              </a:defRPr>
            </a:lvl9pPr>
          </a:lstStyle>
          <a:p>
            <a:pPr algn="ctr" hangingPunct="1">
              <a:spcBef>
                <a:spcPct val="0"/>
              </a:spcBef>
              <a:spcAft>
                <a:spcPts val="600"/>
              </a:spcAft>
              <a:defRPr b="0"/>
            </a:pPr>
            <a:r>
              <a:rPr lang="en-US" sz="4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System</a:t>
            </a:r>
          </a:p>
          <a:p>
            <a:pPr algn="ctr" hangingPunct="1">
              <a:spcBef>
                <a:spcPct val="0"/>
              </a:spcBef>
              <a:spcAft>
                <a:spcPts val="600"/>
              </a:spcAft>
              <a:defRPr b="0"/>
            </a:pPr>
            <a:r>
              <a:rPr lang="en-US" sz="44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4" name="Picture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C12C230D-9BE3-0CD5-4A9E-25AF300A24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923" y="101414"/>
            <a:ext cx="3844412" cy="6543679"/>
          </a:xfrm>
          <a:prstGeom prst="rect">
            <a:avLst/>
          </a:prstGeom>
        </p:spPr>
      </p:pic>
      <p:sp>
        <p:nvSpPr>
          <p:cNvPr id="111" name="Architecture Diagram">
            <a:extLst>
              <a:ext uri="{FF2B5EF4-FFF2-40B4-BE49-F238E27FC236}">
                <a16:creationId xmlns:a16="http://schemas.microsoft.com/office/drawing/2014/main" id="{218E3972-7271-20B7-FFCA-0A83594E44FB}"/>
              </a:ext>
            </a:extLst>
          </p:cNvPr>
          <p:cNvSpPr txBox="1"/>
          <p:nvPr/>
        </p:nvSpPr>
        <p:spPr>
          <a:xfrm>
            <a:off x="127000" y="127000"/>
            <a:ext cx="92396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1200"/>
              </a:spcBef>
              <a:defRPr sz="3000"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>
              <a:defRPr b="0"/>
            </a:pPr>
            <a:endParaRPr b="1"/>
          </a:p>
        </p:txBody>
      </p:sp>
    </p:spTree>
    <p:extLst>
      <p:ext uri="{BB962C8B-B14F-4D97-AF65-F5344CB8AC3E}">
        <p14:creationId xmlns:p14="http://schemas.microsoft.com/office/powerpoint/2010/main" val="220610605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DECC3-42C8-5EE8-FDF6-F1A46684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Data Source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D8E96-6626-6882-1BC6-28FD82CE7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24" y="2496710"/>
            <a:ext cx="9995152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4988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B0A08-86B1-B439-A1E6-55E3B87F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Pipeline Overview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0B1E278B-B310-A436-005F-D0EDEB18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394326"/>
            <a:ext cx="10744200" cy="38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081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B9487-9432-3766-9A40-FCDD7997141C}"/>
              </a:ext>
            </a:extLst>
          </p:cNvPr>
          <p:cNvSpPr txBox="1"/>
          <p:nvPr/>
        </p:nvSpPr>
        <p:spPr>
          <a:xfrm>
            <a:off x="685413" y="436507"/>
            <a:ext cx="9392421" cy="133084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lIns="91440" tIns="45720" rIns="91440" bIns="45720" numCol="1" spcCol="38100" rtlCol="0" anchor="ctr">
            <a:normAutofit/>
          </a:bodyPr>
          <a:lstStyle/>
          <a:p>
            <a:pPr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References From Data Set</a:t>
            </a:r>
          </a:p>
        </p:txBody>
      </p:sp>
      <p:sp>
        <p:nvSpPr>
          <p:cNvPr id="117" name="EDA - Price Trends…"/>
          <p:cNvSpPr txBox="1"/>
          <p:nvPr/>
        </p:nvSpPr>
        <p:spPr>
          <a:xfrm>
            <a:off x="822576" y="2498343"/>
            <a:ext cx="5361914" cy="36177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>
            <a:noAutofit/>
          </a:bodyPr>
          <a:lstStyle/>
          <a:p>
            <a:pPr indent="-22860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Observations:</a:t>
            </a:r>
            <a:endParaRPr lang="en-US" sz="1600" b="0" kern="1200" dirty="0">
              <a:solidFill>
                <a:schemeClr val="tx1"/>
              </a:solidFill>
              <a:ea typeface="+mn-ea"/>
              <a:cs typeface="+mn-cs"/>
            </a:endParaRP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b="1" kern="1200" dirty="0">
                <a:solidFill>
                  <a:schemeClr val="tx1"/>
                </a:solidFill>
                <a:ea typeface="+mn-ea"/>
                <a:cs typeface="+mn-cs"/>
              </a:rPr>
              <a:t>AAPL</a:t>
            </a: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: Steady upward trend from 2016-2024, with notable dip in 2022 (market correction)</a:t>
            </a: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b="1" kern="1200" dirty="0">
                <a:solidFill>
                  <a:schemeClr val="tx1"/>
                </a:solidFill>
                <a:ea typeface="+mn-ea"/>
                <a:cs typeface="+mn-cs"/>
              </a:rPr>
              <a:t>MSFT</a:t>
            </a: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: Strong growth pattern, particularly accelerating post-2019; minor volatility during pandemic</a:t>
            </a: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b="1" kern="1200" dirty="0">
                <a:solidFill>
                  <a:schemeClr val="tx1"/>
                </a:solidFill>
                <a:ea typeface="+mn-ea"/>
                <a:cs typeface="+mn-cs"/>
              </a:rPr>
              <a:t>GOOGLE</a:t>
            </a: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: Similar upward trajectory with increased volatility in recent years</a:t>
            </a:r>
          </a:p>
          <a:p>
            <a:pPr indent="-22860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Key Insights:</a:t>
            </a:r>
            <a:endParaRPr lang="en-US" sz="1600" b="0" kern="1200" dirty="0">
              <a:solidFill>
                <a:schemeClr val="tx1"/>
              </a:solidFill>
              <a:ea typeface="+mn-ea"/>
              <a:cs typeface="+mn-cs"/>
            </a:endParaRP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All three tech stocks show long-term bullish trends</a:t>
            </a: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Visible seasonality: end-of-year rallies, summer lulls</a:t>
            </a: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COVID-19 impact visible (March 2020 crash, rapid recovery)</a:t>
            </a:r>
          </a:p>
          <a:p>
            <a:pPr marL="457200" indent="-228600" hangingPunct="1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1600" kern="1200" dirty="0">
                <a:solidFill>
                  <a:schemeClr val="tx1"/>
                </a:solidFill>
                <a:ea typeface="+mn-ea"/>
                <a:cs typeface="+mn-cs"/>
              </a:rPr>
              <a:t>Recent consolidation period (2022-2023) across all tickers</a:t>
            </a:r>
          </a:p>
        </p:txBody>
      </p:sp>
      <p:pic>
        <p:nvPicPr>
          <p:cNvPr id="6" name="Picture 5" descr="A red and blue squares with white text&#10;&#10;AI-generated content may be incorrect.">
            <a:extLst>
              <a:ext uri="{FF2B5EF4-FFF2-40B4-BE49-F238E27FC236}">
                <a16:creationId xmlns:a16="http://schemas.microsoft.com/office/drawing/2014/main" id="{13773DC8-37C8-367A-DCF5-55352D946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15" y="2184914"/>
            <a:ext cx="4511609" cy="3755915"/>
          </a:xfrm>
          <a:prstGeom prst="rect">
            <a:avLst/>
          </a:prstGeom>
        </p:spPr>
      </p:pic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Background">
            <a:extLst>
              <a:ext uri="{FF2B5EF4-FFF2-40B4-BE49-F238E27FC236}">
                <a16:creationId xmlns:a16="http://schemas.microsoft.com/office/drawing/2014/main" id="{2431FC1B-47A4-43C3-B636-23DEEB14E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D6F7247-7E74-4743-AF45-768A3F014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4402" y="0"/>
            <a:ext cx="7467598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5B467-5EF4-2E3C-274C-9CAD12CC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754" y="2887394"/>
            <a:ext cx="5606244" cy="32176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Sample Stock Closing Trends</a:t>
            </a: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0C1ECA2-AFC1-E67F-1B69-5DC352CDA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4401" y="5142055"/>
            <a:ext cx="7473350" cy="1705455"/>
          </a:xfrm>
          <a:prstGeom prst="rect">
            <a:avLst/>
          </a:prstGeom>
          <a:ln>
            <a:noFill/>
          </a:ln>
          <a:effectLst>
            <a:outerShdw blurRad="177800" dist="12700" dir="1020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15F75-715D-7FD9-3CE0-25A5165AB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69" y="931062"/>
            <a:ext cx="3112825" cy="1221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15087-42A4-2BF7-0B64-B1790124B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69" y="2812991"/>
            <a:ext cx="3112825" cy="1214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961B7F-EF5F-B5C8-C80D-6331B89F5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69" y="4694597"/>
            <a:ext cx="3112825" cy="119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914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7" name="Rectangle 156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14E359-E301-9268-A2BA-36FE641A756D}"/>
              </a:ext>
            </a:extLst>
          </p:cNvPr>
          <p:cNvSpPr txBox="1"/>
          <p:nvPr/>
        </p:nvSpPr>
        <p:spPr>
          <a:xfrm>
            <a:off x="1137034" y="609600"/>
            <a:ext cx="4784796" cy="13308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lIns="91440" tIns="45720" rIns="91440" bIns="45720" numCol="1" spcCol="38100" rtlCol="0" anchor="ctr">
            <a:normAutofit/>
          </a:bodyPr>
          <a:lstStyle/>
          <a:p>
            <a:pPr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EDA - Feature Correlation</a:t>
            </a:r>
          </a:p>
        </p:txBody>
      </p:sp>
      <p:sp>
        <p:nvSpPr>
          <p:cNvPr id="121" name="EDA - Feature Correlation…"/>
          <p:cNvSpPr txBox="1"/>
          <p:nvPr/>
        </p:nvSpPr>
        <p:spPr>
          <a:xfrm>
            <a:off x="1032387" y="2194102"/>
            <a:ext cx="4542683" cy="44623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>
            <a:noAutofit/>
          </a:bodyPr>
          <a:lstStyle/>
          <a:p>
            <a:pPr hangingPunct="1">
              <a:lnSpc>
                <a:spcPct val="90000"/>
              </a:lnSpc>
              <a:spcAft>
                <a:spcPts val="600"/>
              </a:spcAft>
            </a:pPr>
            <a:r>
              <a:rPr lang="en-US" sz="1500" b="1" kern="1200" dirty="0">
                <a:solidFill>
                  <a:schemeClr val="tx1"/>
                </a:solidFill>
                <a:ea typeface="+mn-ea"/>
                <a:cs typeface="+mn-cs"/>
              </a:rPr>
              <a:t>Key Insights: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SMA ratios (5, 10, 20) are strongly correlated, as they track similar price trends at different time intervals.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RSI has weak correlation with SMA ratios, giving extra insight on momentum vs. trend.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Volatility is mostly independent, showing market uncertainty that isn’t tied to price movement.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1-day return shows moderate correlation with all indicators, supporting its predictive value.</a:t>
            </a:r>
          </a:p>
          <a:p>
            <a:pPr hangingPunct="1">
              <a:lnSpc>
                <a:spcPct val="90000"/>
              </a:lnSpc>
              <a:spcAft>
                <a:spcPts val="600"/>
              </a:spcAft>
            </a:pPr>
            <a:endParaRPr lang="en-US" sz="1500" kern="1200" dirty="0">
              <a:solidFill>
                <a:schemeClr val="tx1"/>
              </a:solidFill>
              <a:ea typeface="+mn-ea"/>
              <a:cs typeface="+mn-cs"/>
            </a:endParaRPr>
          </a:p>
          <a:p>
            <a:pPr hangingPunct="1">
              <a:lnSpc>
                <a:spcPct val="90000"/>
              </a:lnSpc>
              <a:spcAft>
                <a:spcPts val="600"/>
              </a:spcAft>
            </a:pPr>
            <a:r>
              <a:rPr lang="en-US" sz="1500" b="1" kern="1200" dirty="0">
                <a:solidFill>
                  <a:schemeClr val="tx1"/>
                </a:solidFill>
                <a:ea typeface="+mn-ea"/>
                <a:cs typeface="+mn-cs"/>
              </a:rPr>
              <a:t>Feature Engineering Highlights: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Indicators capture different aspects of price behavior.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Low multicollinearity among main features.</a:t>
            </a:r>
          </a:p>
          <a:p>
            <a:pPr indent="-22860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kern="1200" dirty="0">
                <a:solidFill>
                  <a:schemeClr val="tx1"/>
                </a:solidFill>
                <a:ea typeface="+mn-ea"/>
                <a:cs typeface="+mn-cs"/>
              </a:rPr>
              <a:t>RSI and volatility add unique, non-trend information to the model.</a:t>
            </a:r>
          </a:p>
        </p:txBody>
      </p:sp>
      <p:pic>
        <p:nvPicPr>
          <p:cNvPr id="141" name="Picture 140" descr="Financial graphs on a dark display">
            <a:extLst>
              <a:ext uri="{FF2B5EF4-FFF2-40B4-BE49-F238E27FC236}">
                <a16:creationId xmlns:a16="http://schemas.microsoft.com/office/drawing/2014/main" id="{D1AFD0E7-B591-A9C8-3098-0777C67C40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20" r="19229"/>
          <a:stretch>
            <a:fillRect/>
          </a:stretch>
        </p:blipFill>
        <p:spPr>
          <a:xfrm>
            <a:off x="6880610" y="1241899"/>
            <a:ext cx="4737650" cy="439641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962FD-FD67-8BDD-6B74-7CBF0461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100" b="1" kern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Pattern Mining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8B405-D856-A076-1358-D0CF2F145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1148" y="2074606"/>
            <a:ext cx="8908025" cy="40312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Goal: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Identify frequent technical indicator combinations that precede price moves.</a:t>
            </a:r>
            <a:b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</a:b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Techniques Used:</a:t>
            </a: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i="1" kern="120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Apriori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and </a:t>
            </a:r>
            <a:r>
              <a:rPr lang="en-US" sz="1700" i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FP-Growth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algorithms on discretized indicators (SMA, RSI, volatility).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Thresholds: Support ≥ 0.05, Confidence ≥ 0.6, Lift &gt; 1.0.</a:t>
            </a:r>
            <a:endParaRPr lang="en-US" sz="1700" b="1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Example Pattern:</a:t>
            </a: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If </a:t>
            </a:r>
            <a:r>
              <a:rPr lang="en-US" sz="1700" i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(SMA5 &gt; SMA10)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and </a:t>
            </a:r>
            <a:r>
              <a:rPr lang="en-US" sz="1700" i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(RSI &lt; 30)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⇒ </a:t>
            </a:r>
            <a:r>
              <a:rPr lang="en-US" sz="1700" i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Price Up Next Day</a:t>
            </a:r>
            <a:b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</a:b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Support = 0.08, Confidence = 0.64, Lift = 1.28</a:t>
            </a:r>
            <a:endParaRPr lang="en-US" sz="1700" b="1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Outcome:</a:t>
            </a: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Found stable crossover + volume patterns common to all 3 tickers.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Patterns visualized as a </a:t>
            </a:r>
            <a:r>
              <a:rPr lang="en-US" sz="1700" i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network graph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 (nodes = indicators, edges = lift).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0959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79556-2EFC-377B-AAF3-8525DD49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818" y="609600"/>
            <a:ext cx="587675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1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Daily Return Distribution		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0CD0596-44E3-861D-4A3D-6943F93D4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37034" y="2550040"/>
            <a:ext cx="4438036" cy="35526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n-ea"/>
                <a:cs typeface="+mn-cs"/>
              </a:rPr>
              <a:t>Most daily returns cluster tightly around 0%, showing market efficiency and short-term randomness.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n-ea"/>
                <a:cs typeface="+mn-cs"/>
              </a:rPr>
              <a:t>The distribution has </a:t>
            </a:r>
            <a:r>
              <a:rPr kumimoji="0" lang="en-US" altLang="en-US" sz="1700" b="0" i="1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n-ea"/>
                <a:cs typeface="+mn-cs"/>
              </a:rPr>
              <a:t>fat tails</a:t>
            </a:r>
            <a:r>
              <a:rPr kumimoji="0" lang="en-US" altLang="en-US" sz="1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n-ea"/>
                <a:cs typeface="+mn-cs"/>
              </a:rPr>
              <a:t>, meaning occasional large up/down moves (volatility spikes).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+mn-ea"/>
                <a:cs typeface="+mn-cs"/>
              </a:rPr>
              <a:t>This supports including volatility and rolling returns as predictive features.</a:t>
            </a:r>
          </a:p>
        </p:txBody>
      </p:sp>
      <p:pic>
        <p:nvPicPr>
          <p:cNvPr id="7" name="Picture 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64C5A016-B626-47FB-D481-24B1A82A7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54" y="1870761"/>
            <a:ext cx="5476567" cy="381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4443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B4184-951C-59B6-8B93-1866C3E9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100" b="1" kern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Feature Importance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47EB-A897-C2AF-F8CC-05E878D7F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368" y="2182761"/>
            <a:ext cx="9024645" cy="41265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Top Predictive Indicators (Random Forest Gini Scores):</a:t>
            </a: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SMA20 / SMA10 ratio – trend strength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Volatility (10-day std) – market uncertainty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RSI – momentum indicator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1-day return – short-term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Volume ratio – trading pressure</a:t>
            </a:r>
          </a:p>
          <a:p>
            <a:pPr marL="0" indent="0">
              <a:buNone/>
            </a:pPr>
            <a:r>
              <a:rPr lang="en-US" sz="17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Insight:</a:t>
            </a:r>
            <a:endParaRPr lang="en-US" sz="17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Trend and momentum features dominate.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Volume adds context to volatility.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Confirms that interpretable indicators retain strong predictive value.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5663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81CAB-DD3C-2EBE-BC12-FF1ED80A3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Key Findings &amp;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86BB1-6849-A5AE-C954-DAF5CDDA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Short-term patterns like moving-average crossovers show moderate predictive power (lift &gt; 1.2).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 Forest outperformed baseline models by ≈ 15 percentage points in F1.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GPT-4 context improved interpretability and aligned predictions with market news.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Educational goal achieved, demonstrates how data mining connects technical indicators with ML outputs.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B549857-DEEB-4A3E-DB84-2A31EB23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822" y="2184914"/>
            <a:ext cx="3953595" cy="3755915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0000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8005F-AC83-1F46-9B3A-4A51AB64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100" b="1" kern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Limitations &amp;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FCFFF-05FB-3970-4B1D-653E8B5D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036" y="2200059"/>
            <a:ext cx="9096977" cy="45547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Limitations</a:t>
            </a:r>
            <a:endParaRPr lang="en-US" sz="18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Dataset limited to 3 tech stocks (2016–2024).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Daily data misses rich intraday signals.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Non-stationarity: Market patterns shift over time.</a:t>
            </a:r>
          </a:p>
          <a:p>
            <a:pPr marL="0" indent="0">
              <a:buNone/>
            </a:pPr>
            <a:r>
              <a: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Future Work</a:t>
            </a:r>
            <a:endParaRPr lang="en-US" sz="1800" kern="1200" dirty="0">
              <a:solidFill>
                <a:schemeClr val="tx1">
                  <a:lumMod val="85000"/>
                  <a:lumOff val="15000"/>
                </a:schemeClr>
              </a:solidFill>
              <a:ea typeface="+mn-ea"/>
              <a:cs typeface="+mn-c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Try transformer-based models for sequence forecasting.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Refine GPT-4 fusion via embedding similarity and entity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Add news embeddings instead of sentiment scores.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Deploy full dashboard with auto refresh and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401269741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C2E1B-794E-FFD0-1A6C-40212C86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b="1" kern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EA1BE-1C90-18CE-71F0-3B5D24ED8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036" y="2431765"/>
            <a:ext cx="9096977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Our system demonstrates how data mining and machine learning can extract interpretable patterns from financial data and combine them with real-time context.</a:t>
            </a:r>
          </a:p>
          <a:p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Rather than “beating the market,” we focus on </a:t>
            </a:r>
            <a:r>
              <a: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educational value, pattern reliability, and transparent analytics</a:t>
            </a:r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.</a:t>
            </a:r>
          </a:p>
          <a:p>
            <a:r>
              <a: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This project connects historical ML models, live APIs, and LLM-based context into a single integrated framework for financial insight.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1677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9"/>
          <p:cNvSpPr/>
          <p:nvPr/>
        </p:nvSpPr>
        <p:spPr>
          <a:xfrm>
            <a:off x="-1" y="-2"/>
            <a:ext cx="12191697" cy="68520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Rectangle 17"/>
          <p:cNvSpPr/>
          <p:nvPr/>
        </p:nvSpPr>
        <p:spPr>
          <a:xfrm>
            <a:off x="304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1" name="Title 1"/>
          <p:cNvSpPr txBox="1">
            <a:spLocks noGrp="1"/>
          </p:cNvSpPr>
          <p:nvPr>
            <p:ph type="title"/>
          </p:nvPr>
        </p:nvSpPr>
        <p:spPr>
          <a:xfrm>
            <a:off x="6271980" y="3426011"/>
            <a:ext cx="4805997" cy="1297116"/>
          </a:xfrm>
          <a:prstGeom prst="rect">
            <a:avLst/>
          </a:prstGeom>
        </p:spPr>
        <p:txBody>
          <a:bodyPr anchor="t"/>
          <a:lstStyle>
            <a:lvl1pPr>
              <a:defRPr sz="4000" b="1">
                <a:solidFill>
                  <a:srgbClr val="0E2841"/>
                </a:solidFill>
              </a:defRPr>
            </a:lvl1pPr>
          </a:lstStyle>
          <a:p>
            <a:r>
              <a:rPr dirty="0"/>
              <a:t>QUESTIONS</a:t>
            </a:r>
          </a:p>
        </p:txBody>
      </p:sp>
      <p:pic>
        <p:nvPicPr>
          <p:cNvPr id="162" name="Graphic 18" descr="Graphic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61" y="1815318"/>
            <a:ext cx="4141761" cy="41417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732</Words>
  <Application>Microsoft Office PowerPoint</Application>
  <PresentationFormat>Widescreen</PresentationFormat>
  <Paragraphs>98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CSCI 5502: DATA MINING Project Proposal</vt:lpstr>
      <vt:lpstr>INTRODUCTION</vt:lpstr>
      <vt:lpstr>PowerPoint Presentation</vt:lpstr>
      <vt:lpstr>PowerPoint Presentation</vt:lpstr>
      <vt:lpstr>Data Source</vt:lpstr>
      <vt:lpstr>Pipeline Overview</vt:lpstr>
      <vt:lpstr>PowerPoint Presentation</vt:lpstr>
      <vt:lpstr>Sample Stock Closing Trends</vt:lpstr>
      <vt:lpstr>PowerPoint Presentation</vt:lpstr>
      <vt:lpstr>Pattern Mining Overview</vt:lpstr>
      <vt:lpstr>Daily Return Distribution  </vt:lpstr>
      <vt:lpstr>Feature Importance</vt:lpstr>
      <vt:lpstr>Key Findings &amp; Insights</vt:lpstr>
      <vt:lpstr>Limitations &amp; Future Work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Sneha Nagaraju</dc:creator>
  <cp:lastModifiedBy>Sneha Nagaraju</cp:lastModifiedBy>
  <cp:revision>15</cp:revision>
  <dcterms:modified xsi:type="dcterms:W3CDTF">2025-12-06T02:51:46Z</dcterms:modified>
</cp:coreProperties>
</file>